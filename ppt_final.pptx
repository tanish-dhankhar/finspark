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7" r:id="rId4"/>
    <p:sldId id="259" r:id="rId5"/>
    <p:sldId id="288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8" r:id="rId16"/>
    <p:sldId id="279" r:id="rId17"/>
    <p:sldId id="274" r:id="rId18"/>
    <p:sldId id="273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18288000" cy="10287000"/>
  <p:notesSz cx="6858000" cy="9144000"/>
  <p:embeddedFontLst>
    <p:embeddedFont>
      <p:font typeface="Comfortaa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QosnNaMxAn0NbPKjQsS6bi7uz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568"/>
  </p:normalViewPr>
  <p:slideViewPr>
    <p:cSldViewPr snapToGrid="0">
      <p:cViewPr varScale="1">
        <p:scale>
          <a:sx n="65" d="100"/>
          <a:sy n="65" d="100"/>
        </p:scale>
        <p:origin x="27" y="1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501066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1501066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501066f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501066f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1501066f9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1501066f9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01b4d51b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e01b4d51b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01b4d51b5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e01b4d51b5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01b4d51b5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e01b4d51b5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1501066f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1501066f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7" name="Google Shape;3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01b4d51b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5" name="Google Shape;355;g3e01b4d51b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8" name="Google Shape;2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01b4d51b5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e01b4d51b5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01b4d51b5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g3e01b4d51b5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01b4d51b5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g3e01b4d51b5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4" name="Google Shape;4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3" name="Google Shape;4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2" name="Google Shape;4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inspark-frontend.vercel.app/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github.com/Tanish-Dhankhar/FinSpark.git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/>
          <p:cNvSpPr txBox="1"/>
          <p:nvPr/>
        </p:nvSpPr>
        <p:spPr>
          <a:xfrm>
            <a:off x="956075" y="1995843"/>
            <a:ext cx="13269429" cy="350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9"/>
              <a:buFont typeface="Arial"/>
              <a:buNone/>
            </a:pPr>
            <a:r>
              <a:rPr lang="en-US" sz="125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Integration Orchestrator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554336" y="9136124"/>
            <a:ext cx="2794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en-US" sz="39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1-comeRnd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56075" y="5813863"/>
            <a:ext cx="11855455" cy="116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rPr lang="en-US" sz="31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 requirement documents into production-ready integration configs — zero manual schema mapping.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1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1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F5F5F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"/>
          <p:cNvSpPr txBox="1"/>
          <p:nvPr/>
        </p:nvSpPr>
        <p:spPr>
          <a:xfrm>
            <a:off x="13554336" y="8748775"/>
            <a:ext cx="344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Team: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99F7B222-9B0C-83D5-F631-BB18E0721E3C}"/>
              </a:ext>
            </a:extLst>
          </p:cNvPr>
          <p:cNvSpPr txBox="1"/>
          <p:nvPr/>
        </p:nvSpPr>
        <p:spPr>
          <a:xfrm>
            <a:off x="12208803" y="3064785"/>
            <a:ext cx="13269429" cy="193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9"/>
              <a:buFont typeface="Arial"/>
              <a:buNone/>
            </a:pPr>
            <a:r>
              <a:rPr lang="en-US" sz="125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B-DEX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1501066f9_0_0"/>
          <p:cNvSpPr txBox="1"/>
          <p:nvPr/>
        </p:nvSpPr>
        <p:spPr>
          <a:xfrm>
            <a:off x="4572000" y="8202075"/>
            <a:ext cx="1014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e1501066f9_0_0"/>
          <p:cNvSpPr txBox="1"/>
          <p:nvPr/>
        </p:nvSpPr>
        <p:spPr>
          <a:xfrm>
            <a:off x="3810000" y="8766525"/>
            <a:ext cx="1014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e1501066f9_0_0"/>
          <p:cNvSpPr txBox="1"/>
          <p:nvPr/>
        </p:nvSpPr>
        <p:spPr>
          <a:xfrm>
            <a:off x="4071000" y="8554850"/>
            <a:ext cx="10146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1501066f9_0_0"/>
          <p:cNvSpPr txBox="1"/>
          <p:nvPr/>
        </p:nvSpPr>
        <p:spPr>
          <a:xfrm>
            <a:off x="3384875" y="3914350"/>
            <a:ext cx="10892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Screen Recording 2026-05-13 at 12.19.54 PM">
            <a:hlinkClick r:id="" action="ppaction://media"/>
            <a:extLst>
              <a:ext uri="{FF2B5EF4-FFF2-40B4-BE49-F238E27FC236}">
                <a16:creationId xmlns:a16="http://schemas.microsoft.com/office/drawing/2014/main" id="{601950B5-A536-B488-9CD6-3F56F791FF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38" y="6350"/>
            <a:ext cx="18288000" cy="10053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BA2E42-E4AD-C4AD-F08E-E82033F4E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600087" cy="1045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466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e1501066f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25" y="0"/>
            <a:ext cx="1806875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647C5-DB1A-5AD5-DE1A-19D020960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86" y="0"/>
            <a:ext cx="1593222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836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e1501066f9_2_3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671" y="214313"/>
            <a:ext cx="17526000" cy="98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 flipH="1">
            <a:off x="6664423" y="3760397"/>
            <a:ext cx="4353701" cy="7474165"/>
          </a:xfrm>
          <a:custGeom>
            <a:avLst/>
            <a:gdLst/>
            <a:ahLst/>
            <a:cxnLst/>
            <a:rect l="l" t="t" r="r" b="b"/>
            <a:pathLst>
              <a:path w="4353701" h="7474165" extrusionOk="0">
                <a:moveTo>
                  <a:pt x="4353701" y="0"/>
                </a:moveTo>
                <a:lnTo>
                  <a:pt x="0" y="0"/>
                </a:lnTo>
                <a:lnTo>
                  <a:pt x="0" y="7474165"/>
                </a:lnTo>
                <a:lnTo>
                  <a:pt x="4353701" y="7474165"/>
                </a:lnTo>
                <a:lnTo>
                  <a:pt x="435370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Google Shape;172;p5"/>
          <p:cNvSpPr txBox="1"/>
          <p:nvPr/>
        </p:nvSpPr>
        <p:spPr>
          <a:xfrm>
            <a:off x="956075" y="1827564"/>
            <a:ext cx="13936020" cy="9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Phase 0 &amp; Stage 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5"/>
          <p:cNvGrpSpPr/>
          <p:nvPr/>
        </p:nvGrpSpPr>
        <p:grpSpPr>
          <a:xfrm>
            <a:off x="956075" y="3329918"/>
            <a:ext cx="4963969" cy="6126862"/>
            <a:chOff x="0" y="-244670"/>
            <a:chExt cx="6618625" cy="8169149"/>
          </a:xfrm>
        </p:grpSpPr>
        <p:sp>
          <p:nvSpPr>
            <p:cNvPr id="174" name="Google Shape;174;p5"/>
            <p:cNvSpPr txBox="1"/>
            <p:nvPr/>
          </p:nvSpPr>
          <p:spPr>
            <a:xfrm>
              <a:off x="88464" y="2005101"/>
              <a:ext cx="6530161" cy="5919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Client name → unique ID + isolated workspace generated instantly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Config template initialized · empty credential vault created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Upload BRD/SOW (PDF, DOCX, TXT) → Run Pipeline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92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1"/>
                <a:buFont typeface="Arial"/>
                <a:buNone/>
              </a:pPr>
              <a:endParaRPr sz="24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0" y="1121200"/>
              <a:ext cx="6377024" cy="714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2"/>
                <a:buFont typeface="Arial"/>
                <a:buNone/>
              </a:pPr>
              <a:r>
                <a:rPr lang="en-US" sz="3192" b="1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Project Initialization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176;p5"/>
            <p:cNvGrpSpPr/>
            <p:nvPr/>
          </p:nvGrpSpPr>
          <p:grpSpPr>
            <a:xfrm>
              <a:off x="0" y="-244670"/>
              <a:ext cx="928183" cy="1172853"/>
              <a:chOff x="0" y="-56209"/>
              <a:chExt cx="213235" cy="269444"/>
            </a:xfrm>
          </p:grpSpPr>
          <p:sp>
            <p:nvSpPr>
              <p:cNvPr id="177" name="Google Shape;177;p5"/>
              <p:cNvSpPr/>
              <p:nvPr/>
            </p:nvSpPr>
            <p:spPr>
              <a:xfrm>
                <a:off x="0" y="0"/>
                <a:ext cx="213235" cy="213235"/>
              </a:xfrm>
              <a:custGeom>
                <a:avLst/>
                <a:gdLst/>
                <a:ahLst/>
                <a:cxnLst/>
                <a:rect l="l" t="t" r="r" b="b"/>
                <a:pathLst>
                  <a:path w="213235" h="213235" extrusionOk="0">
                    <a:moveTo>
                      <a:pt x="106617" y="0"/>
                    </a:moveTo>
                    <a:cubicBezTo>
                      <a:pt x="47734" y="0"/>
                      <a:pt x="0" y="47734"/>
                      <a:pt x="0" y="106617"/>
                    </a:cubicBezTo>
                    <a:cubicBezTo>
                      <a:pt x="0" y="165500"/>
                      <a:pt x="47734" y="213235"/>
                      <a:pt x="106617" y="213235"/>
                    </a:cubicBezTo>
                    <a:cubicBezTo>
                      <a:pt x="165500" y="213235"/>
                      <a:pt x="213235" y="165500"/>
                      <a:pt x="213235" y="106617"/>
                    </a:cubicBezTo>
                    <a:cubicBezTo>
                      <a:pt x="213235" y="47734"/>
                      <a:pt x="165500" y="0"/>
                      <a:pt x="106617" y="0"/>
                    </a:cubicBezTo>
                    <a:close/>
                  </a:path>
                </a:pathLst>
              </a:custGeom>
              <a:solidFill>
                <a:srgbClr val="0B0E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5"/>
              <p:cNvSpPr txBox="1"/>
              <p:nvPr/>
            </p:nvSpPr>
            <p:spPr>
              <a:xfrm>
                <a:off x="19991" y="-56209"/>
                <a:ext cx="173253" cy="249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400" tIns="46400" rIns="46400" bIns="46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99"/>
                  <a:buFont typeface="Arial"/>
                  <a:buNone/>
                </a:pPr>
                <a:r>
                  <a:rPr lang="en-US" sz="1999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79" name="Google Shape;179;p5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" name="Google Shape;180;p5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5"/>
          <p:cNvSpPr txBox="1"/>
          <p:nvPr/>
        </p:nvSpPr>
        <p:spPr>
          <a:xfrm>
            <a:off x="6242254" y="854844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2361680" y="4797335"/>
            <a:ext cx="4954152" cy="48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Supports PDF, DOCX, TXT, MD Files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PDF page-by-page · DOCX paragraphs + tables · TXT direct read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Zero AI — pure code extraction, fully deterministic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Clean structured text output → ready for Stage 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92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1"/>
              <a:buFont typeface="Arial"/>
              <a:buNone/>
            </a:pPr>
            <a:endParaRPr sz="2421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2295332" y="4139173"/>
            <a:ext cx="478276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2"/>
              <a:buFont typeface="Arial"/>
              <a:buNone/>
            </a:pPr>
            <a:r>
              <a:rPr lang="en-US" sz="3192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Document Ingestion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5"/>
          <p:cNvGrpSpPr/>
          <p:nvPr/>
        </p:nvGrpSpPr>
        <p:grpSpPr>
          <a:xfrm>
            <a:off x="12295332" y="3131438"/>
            <a:ext cx="696138" cy="879641"/>
            <a:chOff x="0" y="-56209"/>
            <a:chExt cx="213235" cy="269444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213235" cy="213235"/>
            </a:xfrm>
            <a:custGeom>
              <a:avLst/>
              <a:gdLst/>
              <a:ahLst/>
              <a:cxnLst/>
              <a:rect l="l" t="t" r="r" b="b"/>
              <a:pathLst>
                <a:path w="213235" h="213235" extrusionOk="0">
                  <a:moveTo>
                    <a:pt x="106617" y="0"/>
                  </a:moveTo>
                  <a:cubicBezTo>
                    <a:pt x="47734" y="0"/>
                    <a:pt x="0" y="47734"/>
                    <a:pt x="0" y="106617"/>
                  </a:cubicBezTo>
                  <a:cubicBezTo>
                    <a:pt x="0" y="165500"/>
                    <a:pt x="47734" y="213235"/>
                    <a:pt x="106617" y="213235"/>
                  </a:cubicBezTo>
                  <a:cubicBezTo>
                    <a:pt x="165500" y="213235"/>
                    <a:pt x="213235" y="165500"/>
                    <a:pt x="213235" y="106617"/>
                  </a:cubicBezTo>
                  <a:cubicBezTo>
                    <a:pt x="213235" y="47734"/>
                    <a:pt x="165500" y="0"/>
                    <a:pt x="106617" y="0"/>
                  </a:cubicBezTo>
                  <a:close/>
                </a:path>
              </a:pathLst>
            </a:custGeom>
            <a:solidFill>
              <a:srgbClr val="2E90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19991" y="-56209"/>
              <a:ext cx="173253" cy="249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400" tIns="46400" rIns="46400" bIns="4640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None/>
              </a:pPr>
              <a:r>
                <a:rPr lang="en-US" sz="1999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01b4d51b5_0_93"/>
          <p:cNvSpPr txBox="1"/>
          <p:nvPr/>
        </p:nvSpPr>
        <p:spPr>
          <a:xfrm>
            <a:off x="2761825" y="678475"/>
            <a:ext cx="8357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3e01b4d51b5_0_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650" y="1727122"/>
            <a:ext cx="6979425" cy="590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e01b4d51b5_0_93"/>
          <p:cNvPicPr preferRelativeResize="0"/>
          <p:nvPr/>
        </p:nvPicPr>
        <p:blipFill rotWithShape="1">
          <a:blip r:embed="rId4">
            <a:alphaModFix/>
          </a:blip>
          <a:srcRect l="710" t="21157" r="-710" b="2710"/>
          <a:stretch/>
        </p:blipFill>
        <p:spPr>
          <a:xfrm>
            <a:off x="10046729" y="1860763"/>
            <a:ext cx="7268224" cy="563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e01b4d51b5_0_93"/>
          <p:cNvSpPr txBox="1"/>
          <p:nvPr/>
        </p:nvSpPr>
        <p:spPr>
          <a:xfrm>
            <a:off x="3668400" y="8253925"/>
            <a:ext cx="2569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Phase- 0 </a:t>
            </a:r>
            <a:endParaRPr sz="32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5" name="Google Shape;195;g3e01b4d51b5_0_93"/>
          <p:cNvSpPr txBox="1"/>
          <p:nvPr/>
        </p:nvSpPr>
        <p:spPr>
          <a:xfrm>
            <a:off x="12932022" y="8062750"/>
            <a:ext cx="2569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Stage-1</a:t>
            </a:r>
            <a:endParaRPr sz="32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 flipH="1">
            <a:off x="6664423" y="3827175"/>
            <a:ext cx="4353701" cy="7474165"/>
          </a:xfrm>
          <a:custGeom>
            <a:avLst/>
            <a:gdLst/>
            <a:ahLst/>
            <a:cxnLst/>
            <a:rect l="l" t="t" r="r" b="b"/>
            <a:pathLst>
              <a:path w="4353701" h="7474165" extrusionOk="0">
                <a:moveTo>
                  <a:pt x="4353701" y="0"/>
                </a:moveTo>
                <a:lnTo>
                  <a:pt x="0" y="0"/>
                </a:lnTo>
                <a:lnTo>
                  <a:pt x="0" y="7474165"/>
                </a:lnTo>
                <a:lnTo>
                  <a:pt x="4353701" y="7474165"/>
                </a:lnTo>
                <a:lnTo>
                  <a:pt x="435370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01" name="Google Shape;201;p6"/>
          <p:cNvGrpSpPr/>
          <p:nvPr/>
        </p:nvGrpSpPr>
        <p:grpSpPr>
          <a:xfrm>
            <a:off x="956075" y="3329918"/>
            <a:ext cx="4963969" cy="6126862"/>
            <a:chOff x="0" y="-244670"/>
            <a:chExt cx="6618625" cy="8169149"/>
          </a:xfrm>
        </p:grpSpPr>
        <p:sp>
          <p:nvSpPr>
            <p:cNvPr id="202" name="Google Shape;202;p6"/>
            <p:cNvSpPr txBox="1"/>
            <p:nvPr/>
          </p:nvSpPr>
          <p:spPr>
            <a:xfrm>
              <a:off x="88464" y="2005101"/>
              <a:ext cx="6530161" cy="5919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LLM reads BRD → extracts every integration service mentioned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Identifies: name · category · mandatory/optional · version hints · data fields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Never hallucinates — grounded strictly in uploaded documents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92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1"/>
                <a:buFont typeface="Arial"/>
                <a:buNone/>
              </a:pPr>
              <a:endParaRPr sz="24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0" y="1121200"/>
              <a:ext cx="6377024" cy="714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2"/>
                <a:buFont typeface="Arial"/>
                <a:buNone/>
              </a:pPr>
              <a:r>
                <a:rPr lang="en-US" sz="3192" b="1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Requirement Parsing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" name="Google Shape;204;p6"/>
            <p:cNvGrpSpPr/>
            <p:nvPr/>
          </p:nvGrpSpPr>
          <p:grpSpPr>
            <a:xfrm>
              <a:off x="0" y="-244670"/>
              <a:ext cx="928183" cy="1172853"/>
              <a:chOff x="0" y="-56209"/>
              <a:chExt cx="213235" cy="269444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213235" cy="213235"/>
              </a:xfrm>
              <a:custGeom>
                <a:avLst/>
                <a:gdLst/>
                <a:ahLst/>
                <a:cxnLst/>
                <a:rect l="l" t="t" r="r" b="b"/>
                <a:pathLst>
                  <a:path w="213235" h="213235" extrusionOk="0">
                    <a:moveTo>
                      <a:pt x="106617" y="0"/>
                    </a:moveTo>
                    <a:cubicBezTo>
                      <a:pt x="47734" y="0"/>
                      <a:pt x="0" y="47734"/>
                      <a:pt x="0" y="106617"/>
                    </a:cubicBezTo>
                    <a:cubicBezTo>
                      <a:pt x="0" y="165500"/>
                      <a:pt x="47734" y="213235"/>
                      <a:pt x="106617" y="213235"/>
                    </a:cubicBezTo>
                    <a:cubicBezTo>
                      <a:pt x="165500" y="213235"/>
                      <a:pt x="213235" y="165500"/>
                      <a:pt x="213235" y="106617"/>
                    </a:cubicBezTo>
                    <a:cubicBezTo>
                      <a:pt x="213235" y="47734"/>
                      <a:pt x="165500" y="0"/>
                      <a:pt x="10661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6"/>
              <p:cNvSpPr txBox="1"/>
              <p:nvPr/>
            </p:nvSpPr>
            <p:spPr>
              <a:xfrm>
                <a:off x="19991" y="-56209"/>
                <a:ext cx="173253" cy="249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400" tIns="46400" rIns="46400" bIns="46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99"/>
                  <a:buFont typeface="Arial"/>
                  <a:buNone/>
                </a:pPr>
                <a:r>
                  <a:rPr lang="en-US" sz="1999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7" name="Google Shape;207;p6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6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09" name="Google Shape;209;p6"/>
          <p:cNvGrpSpPr/>
          <p:nvPr/>
        </p:nvGrpSpPr>
        <p:grpSpPr>
          <a:xfrm>
            <a:off x="12295332" y="3131438"/>
            <a:ext cx="696138" cy="879641"/>
            <a:chOff x="0" y="-56209"/>
            <a:chExt cx="213235" cy="269444"/>
          </a:xfrm>
        </p:grpSpPr>
        <p:sp>
          <p:nvSpPr>
            <p:cNvPr id="210" name="Google Shape;210;p6"/>
            <p:cNvSpPr/>
            <p:nvPr/>
          </p:nvSpPr>
          <p:spPr>
            <a:xfrm>
              <a:off x="0" y="0"/>
              <a:ext cx="213235" cy="213235"/>
            </a:xfrm>
            <a:custGeom>
              <a:avLst/>
              <a:gdLst/>
              <a:ahLst/>
              <a:cxnLst/>
              <a:rect l="l" t="t" r="r" b="b"/>
              <a:pathLst>
                <a:path w="213235" h="213235" extrusionOk="0">
                  <a:moveTo>
                    <a:pt x="106617" y="0"/>
                  </a:moveTo>
                  <a:cubicBezTo>
                    <a:pt x="47734" y="0"/>
                    <a:pt x="0" y="47734"/>
                    <a:pt x="0" y="106617"/>
                  </a:cubicBezTo>
                  <a:cubicBezTo>
                    <a:pt x="0" y="165500"/>
                    <a:pt x="47734" y="213235"/>
                    <a:pt x="106617" y="213235"/>
                  </a:cubicBezTo>
                  <a:cubicBezTo>
                    <a:pt x="165500" y="213235"/>
                    <a:pt x="213235" y="165500"/>
                    <a:pt x="213235" y="106617"/>
                  </a:cubicBezTo>
                  <a:cubicBezTo>
                    <a:pt x="213235" y="47734"/>
                    <a:pt x="165500" y="0"/>
                    <a:pt x="106617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19991" y="-56209"/>
              <a:ext cx="173253" cy="249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400" tIns="46400" rIns="46400" bIns="4640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None/>
              </a:pPr>
              <a:r>
                <a:rPr lang="en-US" sz="1999" b="1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6"/>
          <p:cNvSpPr/>
          <p:nvPr/>
        </p:nvSpPr>
        <p:spPr>
          <a:xfrm>
            <a:off x="12295332" y="4744223"/>
            <a:ext cx="4611240" cy="542499"/>
          </a:xfrm>
          <a:custGeom>
            <a:avLst/>
            <a:gdLst/>
            <a:ahLst/>
            <a:cxnLst/>
            <a:rect l="l" t="t" r="r" b="b"/>
            <a:pathLst>
              <a:path w="4611240" h="542499" extrusionOk="0">
                <a:moveTo>
                  <a:pt x="0" y="0"/>
                </a:moveTo>
                <a:lnTo>
                  <a:pt x="4611239" y="0"/>
                </a:lnTo>
                <a:lnTo>
                  <a:pt x="4611239" y="542499"/>
                </a:lnTo>
                <a:lnTo>
                  <a:pt x="0" y="542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Google Shape;213;p6"/>
          <p:cNvSpPr txBox="1"/>
          <p:nvPr/>
        </p:nvSpPr>
        <p:spPr>
          <a:xfrm>
            <a:off x="956075" y="1849119"/>
            <a:ext cx="13936020" cy="9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Stages 2–3: Parse &amp; Match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12360596" y="5133380"/>
            <a:ext cx="5303004" cy="41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2799" lvl="1" indent="-261400">
              <a:lnSpc>
                <a:spcPct val="140024"/>
              </a:lnSpc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dirty="0">
                <a:solidFill>
                  <a:srgbClr val="0B0E2B"/>
                </a:solidFill>
              </a:rPr>
              <a:t>Al matches best adapter + version using RAG vector search</a:t>
            </a:r>
          </a:p>
          <a:p>
            <a:pPr marL="522799" lvl="1" indent="-261400">
              <a:lnSpc>
                <a:spcPct val="140024"/>
              </a:lnSpc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dirty="0">
                <a:solidFill>
                  <a:srgbClr val="0B0E2B"/>
                </a:solidFill>
              </a:rPr>
              <a:t>Low-confidence matches flagged for review</a:t>
            </a:r>
          </a:p>
          <a:p>
            <a:pPr marL="522799" lvl="1" indent="-261400">
              <a:lnSpc>
                <a:spcPct val="140024"/>
              </a:lnSpc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dirty="0">
                <a:solidFill>
                  <a:srgbClr val="0B0E2B"/>
                </a:solidFill>
              </a:rPr>
              <a:t>Full adapter config auto-filled (auth, endpoints, retries, versions)</a:t>
            </a:r>
          </a:p>
          <a:p>
            <a:pPr marL="522799" lvl="1" indent="-261400">
              <a:lnSpc>
                <a:spcPct val="140024"/>
              </a:lnSpc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dirty="0">
                <a:solidFill>
                  <a:srgbClr val="0B0E2B"/>
                </a:solidFill>
              </a:rPr>
              <a:t>RAG-enabled smart chunking supports 500+ adapters</a:t>
            </a:r>
          </a:p>
        </p:txBody>
      </p:sp>
      <p:sp>
        <p:nvSpPr>
          <p:cNvPr id="216" name="Google Shape;216;p6"/>
          <p:cNvSpPr txBox="1"/>
          <p:nvPr/>
        </p:nvSpPr>
        <p:spPr>
          <a:xfrm>
            <a:off x="12295332" y="4148698"/>
            <a:ext cx="553190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2"/>
              <a:buFont typeface="Arial"/>
              <a:buNone/>
            </a:pPr>
            <a:r>
              <a:rPr lang="en-US" sz="2992" b="1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Adapter Matching &amp; Config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 flipH="1">
            <a:off x="6664423" y="3827175"/>
            <a:ext cx="4353701" cy="7474165"/>
          </a:xfrm>
          <a:custGeom>
            <a:avLst/>
            <a:gdLst/>
            <a:ahLst/>
            <a:cxnLst/>
            <a:rect l="l" t="t" r="r" b="b"/>
            <a:pathLst>
              <a:path w="4353701" h="7474165" extrusionOk="0">
                <a:moveTo>
                  <a:pt x="4353701" y="0"/>
                </a:moveTo>
                <a:lnTo>
                  <a:pt x="0" y="0"/>
                </a:lnTo>
                <a:lnTo>
                  <a:pt x="0" y="7474165"/>
                </a:lnTo>
                <a:lnTo>
                  <a:pt x="4353701" y="7474165"/>
                </a:lnTo>
                <a:lnTo>
                  <a:pt x="435370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Google Shape;222;p7"/>
          <p:cNvSpPr txBox="1"/>
          <p:nvPr/>
        </p:nvSpPr>
        <p:spPr>
          <a:xfrm>
            <a:off x="1022423" y="4995815"/>
            <a:ext cx="4897620" cy="48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explains every decision — adapter choice, version, field mapping rationale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Flags missing fields, unmatched APIs, and confidence level per integration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Shown to reviewer alongside config — no black box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92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1"/>
              <a:buFont typeface="Arial"/>
              <a:buNone/>
            </a:pPr>
            <a:endParaRPr sz="2421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956075" y="4337652"/>
            <a:ext cx="478276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2"/>
              <a:buFont typeface="Arial"/>
              <a:buNone/>
            </a:pPr>
            <a:r>
              <a:rPr lang="en-US" sz="3192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Reasoning Report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7"/>
          <p:cNvGrpSpPr/>
          <p:nvPr/>
        </p:nvGrpSpPr>
        <p:grpSpPr>
          <a:xfrm>
            <a:off x="956075" y="3329918"/>
            <a:ext cx="696138" cy="879641"/>
            <a:chOff x="0" y="-56209"/>
            <a:chExt cx="213235" cy="269444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213235" cy="213235"/>
            </a:xfrm>
            <a:custGeom>
              <a:avLst/>
              <a:gdLst/>
              <a:ahLst/>
              <a:cxnLst/>
              <a:rect l="l" t="t" r="r" b="b"/>
              <a:pathLst>
                <a:path w="213235" h="213235" extrusionOk="0">
                  <a:moveTo>
                    <a:pt x="106617" y="0"/>
                  </a:moveTo>
                  <a:cubicBezTo>
                    <a:pt x="47734" y="0"/>
                    <a:pt x="0" y="47734"/>
                    <a:pt x="0" y="106617"/>
                  </a:cubicBezTo>
                  <a:cubicBezTo>
                    <a:pt x="0" y="165500"/>
                    <a:pt x="47734" y="213235"/>
                    <a:pt x="106617" y="213235"/>
                  </a:cubicBezTo>
                  <a:cubicBezTo>
                    <a:pt x="165500" y="213235"/>
                    <a:pt x="213235" y="165500"/>
                    <a:pt x="213235" y="106617"/>
                  </a:cubicBezTo>
                  <a:cubicBezTo>
                    <a:pt x="213235" y="47734"/>
                    <a:pt x="165500" y="0"/>
                    <a:pt x="106617" y="0"/>
                  </a:cubicBezTo>
                  <a:close/>
                </a:path>
              </a:pathLst>
            </a:custGeom>
            <a:solidFill>
              <a:srgbClr val="0B0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19991" y="-56209"/>
              <a:ext cx="173253" cy="249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400" tIns="46400" rIns="46400" bIns="4640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None/>
              </a:pPr>
              <a:r>
                <a:rPr lang="en-US" sz="1999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7" name="Google Shape;227;p7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7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9" name="Google Shape;229;p7"/>
          <p:cNvGrpSpPr/>
          <p:nvPr/>
        </p:nvGrpSpPr>
        <p:grpSpPr>
          <a:xfrm>
            <a:off x="12295332" y="3131438"/>
            <a:ext cx="696138" cy="879641"/>
            <a:chOff x="0" y="-56209"/>
            <a:chExt cx="213235" cy="269444"/>
          </a:xfrm>
        </p:grpSpPr>
        <p:sp>
          <p:nvSpPr>
            <p:cNvPr id="230" name="Google Shape;230;p7"/>
            <p:cNvSpPr/>
            <p:nvPr/>
          </p:nvSpPr>
          <p:spPr>
            <a:xfrm>
              <a:off x="0" y="0"/>
              <a:ext cx="213235" cy="213235"/>
            </a:xfrm>
            <a:custGeom>
              <a:avLst/>
              <a:gdLst/>
              <a:ahLst/>
              <a:cxnLst/>
              <a:rect l="l" t="t" r="r" b="b"/>
              <a:pathLst>
                <a:path w="213235" h="213235" extrusionOk="0">
                  <a:moveTo>
                    <a:pt x="106617" y="0"/>
                  </a:moveTo>
                  <a:cubicBezTo>
                    <a:pt x="47734" y="0"/>
                    <a:pt x="0" y="47734"/>
                    <a:pt x="0" y="106617"/>
                  </a:cubicBezTo>
                  <a:cubicBezTo>
                    <a:pt x="0" y="165500"/>
                    <a:pt x="47734" y="213235"/>
                    <a:pt x="106617" y="213235"/>
                  </a:cubicBezTo>
                  <a:cubicBezTo>
                    <a:pt x="165500" y="213235"/>
                    <a:pt x="213235" y="165500"/>
                    <a:pt x="213235" y="106617"/>
                  </a:cubicBezTo>
                  <a:cubicBezTo>
                    <a:pt x="213235" y="47734"/>
                    <a:pt x="165500" y="0"/>
                    <a:pt x="106617" y="0"/>
                  </a:cubicBezTo>
                  <a:close/>
                </a:path>
              </a:pathLst>
            </a:custGeom>
            <a:solidFill>
              <a:srgbClr val="2E90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19991" y="-56209"/>
              <a:ext cx="173253" cy="249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400" tIns="46400" rIns="46400" bIns="4640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None/>
              </a:pPr>
              <a:r>
                <a:rPr lang="en-US" sz="1999" b="1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7"/>
          <p:cNvSpPr/>
          <p:nvPr/>
        </p:nvSpPr>
        <p:spPr>
          <a:xfrm>
            <a:off x="509503" y="8928150"/>
            <a:ext cx="5923462" cy="1358856"/>
          </a:xfrm>
          <a:custGeom>
            <a:avLst/>
            <a:gdLst/>
            <a:ahLst/>
            <a:cxnLst/>
            <a:rect l="l" t="t" r="r" b="b"/>
            <a:pathLst>
              <a:path w="5923462" h="1358856" extrusionOk="0">
                <a:moveTo>
                  <a:pt x="0" y="0"/>
                </a:moveTo>
                <a:lnTo>
                  <a:pt x="5923462" y="0"/>
                </a:lnTo>
                <a:lnTo>
                  <a:pt x="5923462" y="1358856"/>
                </a:lnTo>
                <a:lnTo>
                  <a:pt x="0" y="1358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3" name="Google Shape;233;p7"/>
          <p:cNvSpPr/>
          <p:nvPr/>
        </p:nvSpPr>
        <p:spPr>
          <a:xfrm>
            <a:off x="12295332" y="9238334"/>
            <a:ext cx="5531908" cy="1048666"/>
          </a:xfrm>
          <a:custGeom>
            <a:avLst/>
            <a:gdLst/>
            <a:ahLst/>
            <a:cxnLst/>
            <a:rect l="l" t="t" r="r" b="b"/>
            <a:pathLst>
              <a:path w="5531908" h="1048666" extrusionOk="0">
                <a:moveTo>
                  <a:pt x="0" y="0"/>
                </a:moveTo>
                <a:lnTo>
                  <a:pt x="5531908" y="0"/>
                </a:lnTo>
                <a:lnTo>
                  <a:pt x="5531908" y="1048666"/>
                </a:lnTo>
                <a:lnTo>
                  <a:pt x="0" y="1048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097" b="-909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4" name="Google Shape;234;p7"/>
          <p:cNvSpPr txBox="1"/>
          <p:nvPr/>
        </p:nvSpPr>
        <p:spPr>
          <a:xfrm>
            <a:off x="956075" y="1849119"/>
            <a:ext cx="13936020" cy="9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Stages 4–5: Reason &amp; Clean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12361680" y="4797335"/>
            <a:ext cx="4954152" cy="4887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Strips annotations · replaces any hardcoded secrets with ENV_VAR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Programmatic sweep runs after AI — guarantees no leaks survive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22799" marR="0" lvl="1" indent="-2614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421"/>
              <a:buFont typeface="Arial"/>
              <a:buChar char="•"/>
            </a:pPr>
            <a:r>
              <a:rPr lang="en-US" sz="2421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Auto-restores integrations if AI accidentally dropped anything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920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1"/>
              <a:buFont typeface="Arial"/>
              <a:buNone/>
            </a:pPr>
            <a:endParaRPr sz="2421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12295332" y="4139173"/>
            <a:ext cx="4782768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2"/>
              <a:buFont typeface="Arial"/>
              <a:buNone/>
            </a:pPr>
            <a:r>
              <a:rPr lang="en-US" sz="3192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Production Cleaner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2"/>
              <a:buFont typeface="Arial"/>
              <a:buNone/>
            </a:pPr>
            <a:endParaRPr sz="3192" b="1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2"/>
              <a:buFont typeface="Arial"/>
              <a:buNone/>
            </a:pPr>
            <a:endParaRPr sz="3192" b="1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g3e01b4d51b5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7375" y="370775"/>
            <a:ext cx="14353249" cy="954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/>
          <p:nvPr/>
        </p:nvSpPr>
        <p:spPr>
          <a:xfrm flipH="1">
            <a:off x="6664423" y="3827175"/>
            <a:ext cx="4353701" cy="7474165"/>
          </a:xfrm>
          <a:custGeom>
            <a:avLst/>
            <a:gdLst/>
            <a:ahLst/>
            <a:cxnLst/>
            <a:rect l="l" t="t" r="r" b="b"/>
            <a:pathLst>
              <a:path w="4353701" h="7474165" extrusionOk="0">
                <a:moveTo>
                  <a:pt x="4353701" y="0"/>
                </a:moveTo>
                <a:lnTo>
                  <a:pt x="0" y="0"/>
                </a:lnTo>
                <a:lnTo>
                  <a:pt x="0" y="7474165"/>
                </a:lnTo>
                <a:lnTo>
                  <a:pt x="4353701" y="7474165"/>
                </a:lnTo>
                <a:lnTo>
                  <a:pt x="435370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8" name="Google Shape;248;p8"/>
          <p:cNvGrpSpPr/>
          <p:nvPr/>
        </p:nvGrpSpPr>
        <p:grpSpPr>
          <a:xfrm>
            <a:off x="956075" y="3329918"/>
            <a:ext cx="6179426" cy="7041262"/>
            <a:chOff x="0" y="-244670"/>
            <a:chExt cx="8239235" cy="9388349"/>
          </a:xfrm>
        </p:grpSpPr>
        <p:sp>
          <p:nvSpPr>
            <p:cNvPr id="249" name="Google Shape;249;p8"/>
            <p:cNvSpPr txBox="1"/>
            <p:nvPr/>
          </p:nvSpPr>
          <p:spPr>
            <a:xfrm>
              <a:off x="88464" y="2652801"/>
              <a:ext cx="6530161" cy="64908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Pipeline pauses — config + reasoning report shown to reviewer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Changes via plain English → Corrector LLM applies, new version saved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22799" marR="0" lvl="1" indent="-26140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B0E2B"/>
                </a:buClr>
                <a:buSzPts val="2421"/>
                <a:buFont typeface="Arial"/>
                <a:buChar char="•"/>
              </a:pPr>
              <a:r>
                <a:rPr lang="en-US" sz="2421" b="0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Max 3 iterations · then escalated — nothing auto-approves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4002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1"/>
                <a:buFont typeface="Arial"/>
                <a:buNone/>
              </a:pPr>
              <a:endParaRPr sz="24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920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1"/>
                <a:buFont typeface="Arial"/>
                <a:buNone/>
              </a:pPr>
              <a:endParaRPr sz="24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0" y="1121200"/>
              <a:ext cx="8239235" cy="714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92"/>
                <a:buFont typeface="Arial"/>
                <a:buNone/>
              </a:pPr>
              <a:r>
                <a:rPr lang="en-US" sz="3192" b="1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Human-in-the-Loop Review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" name="Google Shape;251;p8"/>
            <p:cNvGrpSpPr/>
            <p:nvPr/>
          </p:nvGrpSpPr>
          <p:grpSpPr>
            <a:xfrm>
              <a:off x="0" y="-244670"/>
              <a:ext cx="928183" cy="1172853"/>
              <a:chOff x="0" y="-56209"/>
              <a:chExt cx="213235" cy="269444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0" y="0"/>
                <a:ext cx="213235" cy="213235"/>
              </a:xfrm>
              <a:custGeom>
                <a:avLst/>
                <a:gdLst/>
                <a:ahLst/>
                <a:cxnLst/>
                <a:rect l="l" t="t" r="r" b="b"/>
                <a:pathLst>
                  <a:path w="213235" h="213235" extrusionOk="0">
                    <a:moveTo>
                      <a:pt x="106617" y="0"/>
                    </a:moveTo>
                    <a:cubicBezTo>
                      <a:pt x="47734" y="0"/>
                      <a:pt x="0" y="47734"/>
                      <a:pt x="0" y="106617"/>
                    </a:cubicBezTo>
                    <a:cubicBezTo>
                      <a:pt x="0" y="165500"/>
                      <a:pt x="47734" y="213235"/>
                      <a:pt x="106617" y="213235"/>
                    </a:cubicBezTo>
                    <a:cubicBezTo>
                      <a:pt x="165500" y="213235"/>
                      <a:pt x="213235" y="165500"/>
                      <a:pt x="213235" y="106617"/>
                    </a:cubicBezTo>
                    <a:cubicBezTo>
                      <a:pt x="213235" y="47734"/>
                      <a:pt x="165500" y="0"/>
                      <a:pt x="106617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8"/>
              <p:cNvSpPr txBox="1"/>
              <p:nvPr/>
            </p:nvSpPr>
            <p:spPr>
              <a:xfrm>
                <a:off x="19991" y="-56209"/>
                <a:ext cx="173253" cy="249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6400" tIns="46400" rIns="46400" bIns="46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99"/>
                  <a:buFont typeface="Arial"/>
                  <a:buNone/>
                </a:pPr>
                <a:r>
                  <a:rPr lang="en-US" sz="1999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54" name="Google Shape;254;p8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8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6" name="Google Shape;256;p8"/>
          <p:cNvGrpSpPr/>
          <p:nvPr/>
        </p:nvGrpSpPr>
        <p:grpSpPr>
          <a:xfrm>
            <a:off x="12295332" y="3131438"/>
            <a:ext cx="696138" cy="879641"/>
            <a:chOff x="0" y="-56209"/>
            <a:chExt cx="213235" cy="269444"/>
          </a:xfrm>
        </p:grpSpPr>
        <p:sp>
          <p:nvSpPr>
            <p:cNvPr id="257" name="Google Shape;257;p8"/>
            <p:cNvSpPr/>
            <p:nvPr/>
          </p:nvSpPr>
          <p:spPr>
            <a:xfrm>
              <a:off x="0" y="0"/>
              <a:ext cx="213235" cy="213235"/>
            </a:xfrm>
            <a:custGeom>
              <a:avLst/>
              <a:gdLst/>
              <a:ahLst/>
              <a:cxnLst/>
              <a:rect l="l" t="t" r="r" b="b"/>
              <a:pathLst>
                <a:path w="213235" h="213235" extrusionOk="0">
                  <a:moveTo>
                    <a:pt x="106617" y="0"/>
                  </a:moveTo>
                  <a:cubicBezTo>
                    <a:pt x="47734" y="0"/>
                    <a:pt x="0" y="47734"/>
                    <a:pt x="0" y="106617"/>
                  </a:cubicBezTo>
                  <a:cubicBezTo>
                    <a:pt x="0" y="165500"/>
                    <a:pt x="47734" y="213235"/>
                    <a:pt x="106617" y="213235"/>
                  </a:cubicBezTo>
                  <a:cubicBezTo>
                    <a:pt x="165500" y="213235"/>
                    <a:pt x="213235" y="165500"/>
                    <a:pt x="213235" y="106617"/>
                  </a:cubicBezTo>
                  <a:cubicBezTo>
                    <a:pt x="213235" y="47734"/>
                    <a:pt x="165500" y="0"/>
                    <a:pt x="106617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"/>
            <p:cNvSpPr txBox="1"/>
            <p:nvPr/>
          </p:nvSpPr>
          <p:spPr>
            <a:xfrm>
              <a:off x="19991" y="-56209"/>
              <a:ext cx="173253" cy="249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400" tIns="46400" rIns="46400" bIns="46400" anchor="ctr" anchorCtr="0">
              <a:noAutofit/>
            </a:bodyPr>
            <a:lstStyle/>
            <a:p>
              <a:pPr marL="0" marR="0" lvl="0" indent="0" algn="ctr" rtl="0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None/>
              </a:pPr>
              <a:r>
                <a:rPr lang="en-US" sz="1999" b="1" i="0" u="none" strike="noStrike" cap="none">
                  <a:solidFill>
                    <a:srgbClr val="0B0E2B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8"/>
          <p:cNvSpPr/>
          <p:nvPr/>
        </p:nvSpPr>
        <p:spPr>
          <a:xfrm>
            <a:off x="1028700" y="4883060"/>
            <a:ext cx="5037603" cy="668708"/>
          </a:xfrm>
          <a:custGeom>
            <a:avLst/>
            <a:gdLst/>
            <a:ahLst/>
            <a:cxnLst/>
            <a:rect l="l" t="t" r="r" b="b"/>
            <a:pathLst>
              <a:path w="5037603" h="668708" extrusionOk="0">
                <a:moveTo>
                  <a:pt x="0" y="0"/>
                </a:moveTo>
                <a:lnTo>
                  <a:pt x="5037603" y="0"/>
                </a:lnTo>
                <a:lnTo>
                  <a:pt x="5037603" y="668709"/>
                </a:lnTo>
                <a:lnTo>
                  <a:pt x="0" y="668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" name="Google Shape;260;p8"/>
          <p:cNvSpPr/>
          <p:nvPr/>
        </p:nvSpPr>
        <p:spPr>
          <a:xfrm>
            <a:off x="11827753" y="8494106"/>
            <a:ext cx="6128684" cy="1528388"/>
          </a:xfrm>
          <a:custGeom>
            <a:avLst/>
            <a:gdLst/>
            <a:ahLst/>
            <a:cxnLst/>
            <a:rect l="l" t="t" r="r" b="b"/>
            <a:pathLst>
              <a:path w="6128684" h="1528388" extrusionOk="0">
                <a:moveTo>
                  <a:pt x="0" y="0"/>
                </a:moveTo>
                <a:lnTo>
                  <a:pt x="6128684" y="0"/>
                </a:lnTo>
                <a:lnTo>
                  <a:pt x="6128684" y="1528388"/>
                </a:lnTo>
                <a:lnTo>
                  <a:pt x="0" y="1528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" name="Google Shape;261;p8"/>
          <p:cNvSpPr txBox="1"/>
          <p:nvPr/>
        </p:nvSpPr>
        <p:spPr>
          <a:xfrm>
            <a:off x="956075" y="1849119"/>
            <a:ext cx="13936020" cy="9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Stages 6–7: Review &amp; Simulate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12361680" y="4816385"/>
            <a:ext cx="4954152" cy="416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14852" marR="0" lvl="1" indent="-207426" algn="l" rtl="0">
              <a:lnSpc>
                <a:spcPct val="14010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1920"/>
              <a:buFont typeface="Arial"/>
              <a:buChar char="•"/>
            </a:pPr>
            <a:r>
              <a:rPr lang="en-US" sz="19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Each integration tested against mock API responses (10 adapters)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4852" marR="0" lvl="1" indent="-207426" algn="l" rtl="0">
              <a:lnSpc>
                <a:spcPct val="14010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1920"/>
              <a:buFont typeface="Arial"/>
              <a:buChar char="•"/>
            </a:pPr>
            <a:r>
              <a:rPr lang="en-US" sz="19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Confidence score 0–100 · pass/fail per integration · missing fields flagged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4852" marR="0" lvl="1" indent="-207426" algn="l" rtl="0">
              <a:lnSpc>
                <a:spcPct val="14010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1920"/>
              <a:buFont typeface="Arial"/>
              <a:buChar char="•"/>
            </a:pPr>
            <a:r>
              <a:rPr lang="en-US" sz="19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Status set to "production-ready" only after simulation passes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4852" marR="0" lvl="1" indent="-207426" algn="l" rtl="0">
              <a:lnSpc>
                <a:spcPct val="140104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1920"/>
              <a:buFont typeface="Arial"/>
              <a:buChar char="•"/>
            </a:pPr>
            <a:r>
              <a:rPr lang="en-US" sz="1921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 Detailed Scenario Testing checks failures, timeouts, fallbacks, version compatibility, and generates a reliability fidelity score.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56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1"/>
              <a:buFont typeface="Arial"/>
              <a:buNone/>
            </a:pPr>
            <a:endParaRPr sz="1921" b="0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12295332" y="4168023"/>
            <a:ext cx="4782900" cy="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2"/>
              <a:buFont typeface="Arial"/>
              <a:buNone/>
            </a:pPr>
            <a:r>
              <a:rPr lang="en-US" sz="3192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Simulation and Testing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e01b4d51b5_0_1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238" y="2263475"/>
            <a:ext cx="17235523" cy="29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1501066f9_0_25"/>
          <p:cNvSpPr txBox="1"/>
          <p:nvPr/>
        </p:nvSpPr>
        <p:spPr>
          <a:xfrm>
            <a:off x="6513689" y="227191"/>
            <a:ext cx="5221109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look at our User-Centric UI</a:t>
            </a:r>
          </a:p>
        </p:txBody>
      </p:sp>
      <p:pic>
        <p:nvPicPr>
          <p:cNvPr id="2" name="Aditya Mittal_s Video - May 13, 2026.mp4">
            <a:hlinkClick r:id="" action="ppaction://media"/>
            <a:extLst>
              <a:ext uri="{FF2B5EF4-FFF2-40B4-BE49-F238E27FC236}">
                <a16:creationId xmlns:a16="http://schemas.microsoft.com/office/drawing/2014/main" id="{226B0BB3-34C3-29A8-E90B-56077B280E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09043" y="904269"/>
            <a:ext cx="14630400" cy="914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0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9"/>
          <p:cNvGrpSpPr/>
          <p:nvPr/>
        </p:nvGrpSpPr>
        <p:grpSpPr>
          <a:xfrm>
            <a:off x="956075" y="4354912"/>
            <a:ext cx="3887777" cy="5242738"/>
            <a:chOff x="0" y="-85725"/>
            <a:chExt cx="1023941" cy="1380804"/>
          </a:xfrm>
        </p:grpSpPr>
        <p:sp>
          <p:nvSpPr>
            <p:cNvPr id="330" name="Google Shape;330;p9"/>
            <p:cNvSpPr/>
            <p:nvPr/>
          </p:nvSpPr>
          <p:spPr>
            <a:xfrm>
              <a:off x="0" y="0"/>
              <a:ext cx="1023941" cy="1295079"/>
            </a:xfrm>
            <a:custGeom>
              <a:avLst/>
              <a:gdLst/>
              <a:ahLst/>
              <a:cxnLst/>
              <a:rect l="l" t="t" r="r" b="b"/>
              <a:pathLst>
                <a:path w="1023941" h="1295079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235338"/>
                  </a:lnTo>
                  <a:cubicBezTo>
                    <a:pt x="1023941" y="1251182"/>
                    <a:pt x="1017647" y="1266377"/>
                    <a:pt x="1006444" y="1277581"/>
                  </a:cubicBezTo>
                  <a:cubicBezTo>
                    <a:pt x="995240" y="1288784"/>
                    <a:pt x="980045" y="1295079"/>
                    <a:pt x="964201" y="1295079"/>
                  </a:cubicBezTo>
                  <a:lnTo>
                    <a:pt x="59740" y="1295079"/>
                  </a:lnTo>
                  <a:cubicBezTo>
                    <a:pt x="43896" y="1295079"/>
                    <a:pt x="28701" y="1288784"/>
                    <a:pt x="17498" y="1277581"/>
                  </a:cubicBezTo>
                  <a:cubicBezTo>
                    <a:pt x="6294" y="1266377"/>
                    <a:pt x="0" y="1251182"/>
                    <a:pt x="0" y="1235338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0" y="-85725"/>
              <a:ext cx="1023941" cy="1380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9"/>
          <p:cNvGrpSpPr/>
          <p:nvPr/>
        </p:nvGrpSpPr>
        <p:grpSpPr>
          <a:xfrm>
            <a:off x="5085845" y="3915609"/>
            <a:ext cx="4025274" cy="5682041"/>
            <a:chOff x="-9163" y="0"/>
            <a:chExt cx="1060154" cy="1496505"/>
          </a:xfrm>
        </p:grpSpPr>
        <p:sp>
          <p:nvSpPr>
            <p:cNvPr id="333" name="Google Shape;333;p9"/>
            <p:cNvSpPr/>
            <p:nvPr/>
          </p:nvSpPr>
          <p:spPr>
            <a:xfrm>
              <a:off x="0" y="0"/>
              <a:ext cx="1023941" cy="1496505"/>
            </a:xfrm>
            <a:custGeom>
              <a:avLst/>
              <a:gdLst/>
              <a:ahLst/>
              <a:cxnLst/>
              <a:rect l="l" t="t" r="r" b="b"/>
              <a:pathLst>
                <a:path w="1023941" h="1496505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436764"/>
                  </a:lnTo>
                  <a:cubicBezTo>
                    <a:pt x="1023941" y="1452608"/>
                    <a:pt x="1017647" y="1467804"/>
                    <a:pt x="1006444" y="1479007"/>
                  </a:cubicBezTo>
                  <a:cubicBezTo>
                    <a:pt x="995240" y="1490211"/>
                    <a:pt x="980045" y="1496505"/>
                    <a:pt x="964201" y="1496505"/>
                  </a:cubicBezTo>
                  <a:lnTo>
                    <a:pt x="59740" y="1496505"/>
                  </a:lnTo>
                  <a:cubicBezTo>
                    <a:pt x="43896" y="1496505"/>
                    <a:pt x="28701" y="1490211"/>
                    <a:pt x="17498" y="1479007"/>
                  </a:cubicBezTo>
                  <a:cubicBezTo>
                    <a:pt x="6294" y="1467804"/>
                    <a:pt x="0" y="1452608"/>
                    <a:pt x="0" y="1436764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-9163" y="1105729"/>
              <a:ext cx="1060154" cy="390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285750" marR="0" lvl="0" indent="-285750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 pitchFamily="34" charset="0"/>
                <a:buChar char="•"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+mn-lt"/>
                  <a:ea typeface="Calibri"/>
                  <a:cs typeface="Calibri"/>
                  <a:sym typeface="Calibri"/>
                </a:rPr>
                <a:t>Using a local LLM helps your data from potential data leaks arising from working with proprietary LLMs like Gemini and ChatGPT</a:t>
              </a:r>
              <a:endParaRPr sz="18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9284639" y="2820045"/>
            <a:ext cx="3887777" cy="6777606"/>
            <a:chOff x="0" y="-85725"/>
            <a:chExt cx="1023941" cy="1785048"/>
          </a:xfrm>
        </p:grpSpPr>
        <p:sp>
          <p:nvSpPr>
            <p:cNvPr id="336" name="Google Shape;336;p9"/>
            <p:cNvSpPr/>
            <p:nvPr/>
          </p:nvSpPr>
          <p:spPr>
            <a:xfrm>
              <a:off x="0" y="0"/>
              <a:ext cx="1023941" cy="1699323"/>
            </a:xfrm>
            <a:custGeom>
              <a:avLst/>
              <a:gdLst/>
              <a:ahLst/>
              <a:cxnLst/>
              <a:rect l="l" t="t" r="r" b="b"/>
              <a:pathLst>
                <a:path w="1023941" h="1699323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639583"/>
                  </a:lnTo>
                  <a:cubicBezTo>
                    <a:pt x="1023941" y="1655427"/>
                    <a:pt x="1017647" y="1670622"/>
                    <a:pt x="1006444" y="1681826"/>
                  </a:cubicBezTo>
                  <a:cubicBezTo>
                    <a:pt x="995240" y="1693029"/>
                    <a:pt x="980045" y="1699323"/>
                    <a:pt x="964201" y="1699323"/>
                  </a:cubicBezTo>
                  <a:lnTo>
                    <a:pt x="59740" y="1699323"/>
                  </a:lnTo>
                  <a:cubicBezTo>
                    <a:pt x="43896" y="1699323"/>
                    <a:pt x="28701" y="1693029"/>
                    <a:pt x="17498" y="1681826"/>
                  </a:cubicBezTo>
                  <a:cubicBezTo>
                    <a:pt x="6294" y="1670622"/>
                    <a:pt x="0" y="1655427"/>
                    <a:pt x="0" y="1639583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0" y="-85725"/>
              <a:ext cx="1023941" cy="17850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9"/>
          <p:cNvSpPr txBox="1"/>
          <p:nvPr/>
        </p:nvSpPr>
        <p:spPr>
          <a:xfrm>
            <a:off x="948701" y="1958912"/>
            <a:ext cx="13393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Our USPs 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1283024" y="6471800"/>
            <a:ext cx="33468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Pipeline pauses for mandatory human review, allowing reviewers to approve or request natural-language corrections before deployment.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 txBox="1"/>
          <p:nvPr/>
        </p:nvSpPr>
        <p:spPr>
          <a:xfrm>
            <a:off x="5133376" y="5399334"/>
            <a:ext cx="3916507" cy="27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You can save all your API keys with our system and relax. All your API keys are directly saved with </a:t>
            </a:r>
            <a:r>
              <a:rPr lang="en-US" sz="1800" b="0" i="0" u="none" strike="noStrike" cap="none" dirty="0" err="1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HashiCorp</a:t>
            </a: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 vault a multi-encrypte</a:t>
            </a:r>
            <a:r>
              <a:rPr lang="en-US" sz="1800" dirty="0">
                <a:solidFill>
                  <a:srgbClr val="0B0E2B"/>
                </a:solidFill>
              </a:rPr>
              <a:t>d authentication enabled database</a:t>
            </a: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b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Only accessible via client and admin credentials.</a:t>
            </a: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9474101" y="6022625"/>
            <a:ext cx="33468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The system generates detailed reports explaining adapter selection, version choice, and field mapping decisions before approval.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1283025" y="5230725"/>
            <a:ext cx="33468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Human-in-the-Loop by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5578993" y="4282284"/>
            <a:ext cx="2970600" cy="91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dirty="0">
                <a:solidFill>
                  <a:srgbClr val="0B0E2B"/>
                </a:solidFill>
              </a:rPr>
              <a:t>As </a:t>
            </a:r>
            <a:r>
              <a:rPr lang="en-US" sz="2697" b="1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Secure as a fortress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9743270" y="3802832"/>
            <a:ext cx="3429000" cy="17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Explainable and </a:t>
            </a:r>
            <a:r>
              <a:rPr lang="en-US" sz="2697" b="1">
                <a:solidFill>
                  <a:srgbClr val="0B0E2B"/>
                </a:solidFill>
              </a:rPr>
              <a:t>Transparent </a:t>
            </a: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with Full Reasoning Report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9"/>
          <p:cNvGrpSpPr/>
          <p:nvPr/>
        </p:nvGrpSpPr>
        <p:grpSpPr>
          <a:xfrm>
            <a:off x="13345935" y="2099646"/>
            <a:ext cx="3956277" cy="7498000"/>
            <a:chOff x="-18034" y="-148974"/>
            <a:chExt cx="1041975" cy="1974769"/>
          </a:xfrm>
        </p:grpSpPr>
        <p:sp>
          <p:nvSpPr>
            <p:cNvPr id="346" name="Google Shape;346;p9"/>
            <p:cNvSpPr/>
            <p:nvPr/>
          </p:nvSpPr>
          <p:spPr>
            <a:xfrm>
              <a:off x="0" y="0"/>
              <a:ext cx="1023941" cy="1825795"/>
            </a:xfrm>
            <a:custGeom>
              <a:avLst/>
              <a:gdLst/>
              <a:ahLst/>
              <a:cxnLst/>
              <a:rect l="l" t="t" r="r" b="b"/>
              <a:pathLst>
                <a:path w="1023941" h="1825795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766054"/>
                  </a:lnTo>
                  <a:cubicBezTo>
                    <a:pt x="1023941" y="1781899"/>
                    <a:pt x="1017647" y="1797094"/>
                    <a:pt x="1006444" y="1808297"/>
                  </a:cubicBezTo>
                  <a:cubicBezTo>
                    <a:pt x="995240" y="1819501"/>
                    <a:pt x="980045" y="1825795"/>
                    <a:pt x="964201" y="1825795"/>
                  </a:cubicBezTo>
                  <a:lnTo>
                    <a:pt x="59740" y="1825795"/>
                  </a:lnTo>
                  <a:cubicBezTo>
                    <a:pt x="43896" y="1825795"/>
                    <a:pt x="28701" y="1819501"/>
                    <a:pt x="17498" y="1808297"/>
                  </a:cubicBezTo>
                  <a:cubicBezTo>
                    <a:pt x="6294" y="1797094"/>
                    <a:pt x="0" y="1781899"/>
                    <a:pt x="0" y="1766054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2E90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9"/>
            <p:cNvSpPr txBox="1"/>
            <p:nvPr/>
          </p:nvSpPr>
          <p:spPr>
            <a:xfrm>
              <a:off x="-18034" y="-148974"/>
              <a:ext cx="1023900" cy="19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9"/>
          <p:cNvSpPr txBox="1"/>
          <p:nvPr/>
        </p:nvSpPr>
        <p:spPr>
          <a:xfrm>
            <a:off x="13838766" y="5230737"/>
            <a:ext cx="29706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change is timestamped, hashed, and traceable, with clear diffs showing exactly what was added,  removed, or modified.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13894541" y="3325779"/>
            <a:ext cx="2970515" cy="117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Audit Trail with Config Diff History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9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9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2" name="Google Shape;352;p9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g3e01b4d51b5_0_101"/>
          <p:cNvGrpSpPr/>
          <p:nvPr/>
        </p:nvGrpSpPr>
        <p:grpSpPr>
          <a:xfrm>
            <a:off x="956075" y="4354910"/>
            <a:ext cx="3887802" cy="5243139"/>
            <a:chOff x="0" y="-85725"/>
            <a:chExt cx="1023941" cy="1380900"/>
          </a:xfrm>
        </p:grpSpPr>
        <p:sp>
          <p:nvSpPr>
            <p:cNvPr id="358" name="Google Shape;358;g3e01b4d51b5_0_101"/>
            <p:cNvSpPr/>
            <p:nvPr/>
          </p:nvSpPr>
          <p:spPr>
            <a:xfrm>
              <a:off x="0" y="0"/>
              <a:ext cx="1023941" cy="1295079"/>
            </a:xfrm>
            <a:custGeom>
              <a:avLst/>
              <a:gdLst/>
              <a:ahLst/>
              <a:cxnLst/>
              <a:rect l="l" t="t" r="r" b="b"/>
              <a:pathLst>
                <a:path w="1023941" h="1295079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235338"/>
                  </a:lnTo>
                  <a:cubicBezTo>
                    <a:pt x="1023941" y="1251182"/>
                    <a:pt x="1017647" y="1266377"/>
                    <a:pt x="1006444" y="1277581"/>
                  </a:cubicBezTo>
                  <a:cubicBezTo>
                    <a:pt x="995240" y="1288784"/>
                    <a:pt x="980045" y="1295079"/>
                    <a:pt x="964201" y="1295079"/>
                  </a:cubicBezTo>
                  <a:lnTo>
                    <a:pt x="59740" y="1295079"/>
                  </a:lnTo>
                  <a:cubicBezTo>
                    <a:pt x="43896" y="1295079"/>
                    <a:pt x="28701" y="1288784"/>
                    <a:pt x="17498" y="1277581"/>
                  </a:cubicBezTo>
                  <a:cubicBezTo>
                    <a:pt x="6294" y="1266377"/>
                    <a:pt x="0" y="1251182"/>
                    <a:pt x="0" y="1235338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e01b4d51b5_0_101"/>
            <p:cNvSpPr txBox="1"/>
            <p:nvPr/>
          </p:nvSpPr>
          <p:spPr>
            <a:xfrm>
              <a:off x="0" y="-85725"/>
              <a:ext cx="1023900" cy="138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g3e01b4d51b5_0_101"/>
          <p:cNvGrpSpPr/>
          <p:nvPr/>
        </p:nvGrpSpPr>
        <p:grpSpPr>
          <a:xfrm>
            <a:off x="5120636" y="3590120"/>
            <a:ext cx="3887802" cy="6007569"/>
            <a:chOff x="0" y="-85725"/>
            <a:chExt cx="1023941" cy="1582230"/>
          </a:xfrm>
        </p:grpSpPr>
        <p:sp>
          <p:nvSpPr>
            <p:cNvPr id="361" name="Google Shape;361;g3e01b4d51b5_0_101"/>
            <p:cNvSpPr/>
            <p:nvPr/>
          </p:nvSpPr>
          <p:spPr>
            <a:xfrm>
              <a:off x="0" y="0"/>
              <a:ext cx="1023941" cy="1496505"/>
            </a:xfrm>
            <a:custGeom>
              <a:avLst/>
              <a:gdLst/>
              <a:ahLst/>
              <a:cxnLst/>
              <a:rect l="l" t="t" r="r" b="b"/>
              <a:pathLst>
                <a:path w="1023941" h="1496505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436764"/>
                  </a:lnTo>
                  <a:cubicBezTo>
                    <a:pt x="1023941" y="1452608"/>
                    <a:pt x="1017647" y="1467804"/>
                    <a:pt x="1006444" y="1479007"/>
                  </a:cubicBezTo>
                  <a:cubicBezTo>
                    <a:pt x="995240" y="1490211"/>
                    <a:pt x="980045" y="1496505"/>
                    <a:pt x="964201" y="1496505"/>
                  </a:cubicBezTo>
                  <a:lnTo>
                    <a:pt x="59740" y="1496505"/>
                  </a:lnTo>
                  <a:cubicBezTo>
                    <a:pt x="43896" y="1496505"/>
                    <a:pt x="28701" y="1490211"/>
                    <a:pt x="17498" y="1479007"/>
                  </a:cubicBezTo>
                  <a:cubicBezTo>
                    <a:pt x="6294" y="1467804"/>
                    <a:pt x="0" y="1452608"/>
                    <a:pt x="0" y="1436764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e01b4d51b5_0_101"/>
            <p:cNvSpPr txBox="1"/>
            <p:nvPr/>
          </p:nvSpPr>
          <p:spPr>
            <a:xfrm>
              <a:off x="0" y="-85725"/>
              <a:ext cx="1023900" cy="158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g3e01b4d51b5_0_101"/>
          <p:cNvGrpSpPr/>
          <p:nvPr/>
        </p:nvGrpSpPr>
        <p:grpSpPr>
          <a:xfrm>
            <a:off x="9284639" y="2820043"/>
            <a:ext cx="3887802" cy="6777649"/>
            <a:chOff x="0" y="-85725"/>
            <a:chExt cx="1023941" cy="1785048"/>
          </a:xfrm>
        </p:grpSpPr>
        <p:sp>
          <p:nvSpPr>
            <p:cNvPr id="364" name="Google Shape;364;g3e01b4d51b5_0_101"/>
            <p:cNvSpPr/>
            <p:nvPr/>
          </p:nvSpPr>
          <p:spPr>
            <a:xfrm>
              <a:off x="0" y="0"/>
              <a:ext cx="1023941" cy="1699323"/>
            </a:xfrm>
            <a:custGeom>
              <a:avLst/>
              <a:gdLst/>
              <a:ahLst/>
              <a:cxnLst/>
              <a:rect l="l" t="t" r="r" b="b"/>
              <a:pathLst>
                <a:path w="1023941" h="1699323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639583"/>
                  </a:lnTo>
                  <a:cubicBezTo>
                    <a:pt x="1023941" y="1655427"/>
                    <a:pt x="1017647" y="1670622"/>
                    <a:pt x="1006444" y="1681826"/>
                  </a:cubicBezTo>
                  <a:cubicBezTo>
                    <a:pt x="995240" y="1693029"/>
                    <a:pt x="980045" y="1699323"/>
                    <a:pt x="964201" y="1699323"/>
                  </a:cubicBezTo>
                  <a:lnTo>
                    <a:pt x="59740" y="1699323"/>
                  </a:lnTo>
                  <a:cubicBezTo>
                    <a:pt x="43896" y="1699323"/>
                    <a:pt x="28701" y="1693029"/>
                    <a:pt x="17498" y="1681826"/>
                  </a:cubicBezTo>
                  <a:cubicBezTo>
                    <a:pt x="6294" y="1670622"/>
                    <a:pt x="0" y="1655427"/>
                    <a:pt x="0" y="1639583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E4E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e01b4d51b5_0_101"/>
            <p:cNvSpPr txBox="1"/>
            <p:nvPr/>
          </p:nvSpPr>
          <p:spPr>
            <a:xfrm>
              <a:off x="0" y="-85725"/>
              <a:ext cx="1023900" cy="17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g3e01b4d51b5_0_101"/>
          <p:cNvSpPr txBox="1"/>
          <p:nvPr/>
        </p:nvSpPr>
        <p:spPr>
          <a:xfrm>
            <a:off x="956075" y="1861625"/>
            <a:ext cx="146190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7"/>
              <a:buFont typeface="Arial"/>
              <a:buNone/>
            </a:pPr>
            <a:r>
              <a:rPr lang="en-US" sz="5197" b="1">
                <a:solidFill>
                  <a:srgbClr val="0B0E2B"/>
                </a:solidFill>
              </a:rPr>
              <a:t>What makes us</a:t>
            </a:r>
            <a:r>
              <a:rPr lang="en-US" sz="51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7" b="1">
                <a:solidFill>
                  <a:srgbClr val="0B0E2B"/>
                </a:solidFill>
              </a:rPr>
              <a:t>ADAPTABLE and TOUGH ?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e01b4d51b5_0_101"/>
          <p:cNvSpPr txBox="1"/>
          <p:nvPr/>
        </p:nvSpPr>
        <p:spPr>
          <a:xfrm>
            <a:off x="1410206" y="5729966"/>
            <a:ext cx="29820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Upload revised documents, system creates new config version, re-runs full pipeline. Full history preserved.</a:t>
            </a:r>
            <a:endParaRPr sz="1800" b="0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01b4d51b5_0_101"/>
          <p:cNvSpPr txBox="1"/>
          <p:nvPr/>
        </p:nvSpPr>
        <p:spPr>
          <a:xfrm>
            <a:off x="5347125" y="4860725"/>
            <a:ext cx="36408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One-click upgrade any integration to a newer API version. Auto-picks latest stable. Rollback to previous</a:t>
            </a: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config versions is always available through version history.</a:t>
            </a: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e01b4d51b5_0_101"/>
          <p:cNvSpPr txBox="1"/>
          <p:nvPr/>
        </p:nvSpPr>
        <p:spPr>
          <a:xfrm>
            <a:off x="9736877" y="4354899"/>
            <a:ext cx="29706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Structured diffs between any two config versions showing exactly what was added, removed, or modified.</a:t>
            </a:r>
            <a:endParaRPr sz="1800" b="0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01b4d51b5_0_101"/>
          <p:cNvSpPr txBox="1"/>
          <p:nvPr/>
        </p:nvSpPr>
        <p:spPr>
          <a:xfrm>
            <a:off x="1226575" y="5230725"/>
            <a:ext cx="33468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Upload and Re-Run</a:t>
            </a:r>
            <a:endParaRPr sz="2697" b="1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e01b4d51b5_0_101"/>
          <p:cNvSpPr txBox="1"/>
          <p:nvPr/>
        </p:nvSpPr>
        <p:spPr>
          <a:xfrm>
            <a:off x="5347118" y="4354909"/>
            <a:ext cx="29706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Version Migration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01b4d51b5_0_101"/>
          <p:cNvSpPr txBox="1"/>
          <p:nvPr/>
        </p:nvSpPr>
        <p:spPr>
          <a:xfrm>
            <a:off x="9507670" y="3773807"/>
            <a:ext cx="34290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Config Diff Viewer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g3e01b4d51b5_0_101"/>
          <p:cNvGrpSpPr/>
          <p:nvPr/>
        </p:nvGrpSpPr>
        <p:grpSpPr>
          <a:xfrm>
            <a:off x="13435910" y="2339846"/>
            <a:ext cx="3887802" cy="7258154"/>
            <a:chOff x="0" y="-85725"/>
            <a:chExt cx="1023941" cy="1911600"/>
          </a:xfrm>
        </p:grpSpPr>
        <p:sp>
          <p:nvSpPr>
            <p:cNvPr id="374" name="Google Shape;374;g3e01b4d51b5_0_101"/>
            <p:cNvSpPr/>
            <p:nvPr/>
          </p:nvSpPr>
          <p:spPr>
            <a:xfrm>
              <a:off x="0" y="0"/>
              <a:ext cx="1023941" cy="1825795"/>
            </a:xfrm>
            <a:custGeom>
              <a:avLst/>
              <a:gdLst/>
              <a:ahLst/>
              <a:cxnLst/>
              <a:rect l="l" t="t" r="r" b="b"/>
              <a:pathLst>
                <a:path w="1023941" h="1825795" extrusionOk="0">
                  <a:moveTo>
                    <a:pt x="59740" y="0"/>
                  </a:moveTo>
                  <a:lnTo>
                    <a:pt x="964201" y="0"/>
                  </a:lnTo>
                  <a:cubicBezTo>
                    <a:pt x="980045" y="0"/>
                    <a:pt x="995240" y="6294"/>
                    <a:pt x="1006444" y="17498"/>
                  </a:cubicBezTo>
                  <a:cubicBezTo>
                    <a:pt x="1017647" y="28701"/>
                    <a:pt x="1023941" y="43896"/>
                    <a:pt x="1023941" y="59740"/>
                  </a:cubicBezTo>
                  <a:lnTo>
                    <a:pt x="1023941" y="1766054"/>
                  </a:lnTo>
                  <a:cubicBezTo>
                    <a:pt x="1023941" y="1781899"/>
                    <a:pt x="1017647" y="1797094"/>
                    <a:pt x="1006444" y="1808297"/>
                  </a:cubicBezTo>
                  <a:cubicBezTo>
                    <a:pt x="995240" y="1819501"/>
                    <a:pt x="980045" y="1825795"/>
                    <a:pt x="964201" y="1825795"/>
                  </a:cubicBezTo>
                  <a:lnTo>
                    <a:pt x="59740" y="1825795"/>
                  </a:lnTo>
                  <a:cubicBezTo>
                    <a:pt x="43896" y="1825795"/>
                    <a:pt x="28701" y="1819501"/>
                    <a:pt x="17498" y="1808297"/>
                  </a:cubicBezTo>
                  <a:cubicBezTo>
                    <a:pt x="6294" y="1797094"/>
                    <a:pt x="0" y="1781899"/>
                    <a:pt x="0" y="1766054"/>
                  </a:cubicBezTo>
                  <a:lnTo>
                    <a:pt x="0" y="59740"/>
                  </a:lnTo>
                  <a:cubicBezTo>
                    <a:pt x="0" y="43896"/>
                    <a:pt x="6294" y="28701"/>
                    <a:pt x="17498" y="17498"/>
                  </a:cubicBezTo>
                  <a:cubicBezTo>
                    <a:pt x="28701" y="6294"/>
                    <a:pt x="43896" y="0"/>
                    <a:pt x="59740" y="0"/>
                  </a:cubicBezTo>
                  <a:close/>
                </a:path>
              </a:pathLst>
            </a:custGeom>
            <a:solidFill>
              <a:srgbClr val="2E90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e01b4d51b5_0_101"/>
            <p:cNvSpPr txBox="1"/>
            <p:nvPr/>
          </p:nvSpPr>
          <p:spPr>
            <a:xfrm>
              <a:off x="0" y="-85725"/>
              <a:ext cx="1023900" cy="19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g3e01b4d51b5_0_101"/>
          <p:cNvSpPr txBox="1"/>
          <p:nvPr/>
        </p:nvSpPr>
        <p:spPr>
          <a:xfrm>
            <a:off x="13905841" y="4664962"/>
            <a:ext cx="29706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system automatically upgrades deprecated API versions requested in a BRD to the latest stable version, logging the reason. If an in-production API version is deprecated, the system warns users and can automatically generate a new configuration with the updated version. Multiple API versions coexist seamlessly, allowing tenants to run different versions without conflict.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e01b4d51b5_0_101"/>
          <p:cNvSpPr txBox="1"/>
          <p:nvPr/>
        </p:nvSpPr>
        <p:spPr>
          <a:xfrm>
            <a:off x="13601575" y="3075700"/>
            <a:ext cx="4149600" cy="1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rPr lang="en-US" sz="259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Intelligent Deprecation and Backward Compatibility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g3e01b4d51b5_0_101"/>
          <p:cNvCxnSpPr/>
          <p:nvPr/>
        </p:nvCxnSpPr>
        <p:spPr>
          <a:xfrm rot="10800000">
            <a:off x="17827240" y="-1017332"/>
            <a:ext cx="0" cy="1184610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9" name="Google Shape;379;g3e01b4d51b5_0_101"/>
          <p:cNvCxnSpPr/>
          <p:nvPr/>
        </p:nvCxnSpPr>
        <p:spPr>
          <a:xfrm>
            <a:off x="-555518" y="566373"/>
            <a:ext cx="19338900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0" name="Google Shape;380;g3e01b4d51b5_0_101"/>
          <p:cNvSpPr txBox="1"/>
          <p:nvPr/>
        </p:nvSpPr>
        <p:spPr>
          <a:xfrm>
            <a:off x="6242254" y="871173"/>
            <a:ext cx="1108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e01b4d51b5_0_101"/>
          <p:cNvSpPr txBox="1"/>
          <p:nvPr/>
        </p:nvSpPr>
        <p:spPr>
          <a:xfrm>
            <a:off x="5210275" y="7025150"/>
            <a:ext cx="43053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7"/>
              <a:buFont typeface="Arial"/>
              <a:buNone/>
            </a:pPr>
            <a:r>
              <a:rPr lang="en-US" sz="23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Credential Vault Isolation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01b4d51b5_0_101"/>
          <p:cNvSpPr txBox="1"/>
          <p:nvPr/>
        </p:nvSpPr>
        <p:spPr>
          <a:xfrm>
            <a:off x="5300000" y="7558475"/>
            <a:ext cx="37212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API keys never touch config files. Configs use $ENVgeneration for missed </a:t>
            </a:r>
            <a:r>
              <a:rPr lang="en-US" sz="1800" b="0" i="0" u="none" strike="noStrike" cap="none" dirty="0" err="1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variables.per</a:t>
            </a: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-client env vaults. Auto-stub</a:t>
            </a: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e01b4d51b5_0_101"/>
          <p:cNvSpPr txBox="1"/>
          <p:nvPr/>
        </p:nvSpPr>
        <p:spPr>
          <a:xfrm>
            <a:off x="9507683" y="6686670"/>
            <a:ext cx="34290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In-Dashboard Config Editor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e01b4d51b5_0_101"/>
          <p:cNvSpPr txBox="1"/>
          <p:nvPr/>
        </p:nvSpPr>
        <p:spPr>
          <a:xfrm>
            <a:off x="9736877" y="7645099"/>
            <a:ext cx="29706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Edit config JSON directly in the browser. Fully audited.</a:t>
            </a:r>
            <a:endParaRPr sz="1800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e01b4d51b5_0_101"/>
          <p:cNvSpPr txBox="1"/>
          <p:nvPr/>
        </p:nvSpPr>
        <p:spPr>
          <a:xfrm>
            <a:off x="1237525" y="7394150"/>
            <a:ext cx="33468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7"/>
              <a:buFont typeface="Arial"/>
              <a:buNone/>
            </a:pPr>
            <a:r>
              <a:rPr lang="en-US" sz="26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Batch Processing</a:t>
            </a:r>
            <a:endParaRPr sz="2697" b="1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01b4d51b5_0_101"/>
          <p:cNvSpPr txBox="1"/>
          <p:nvPr/>
        </p:nvSpPr>
        <p:spPr>
          <a:xfrm>
            <a:off x="1410206" y="7897716"/>
            <a:ext cx="2982000" cy="1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Trigger pipelines for multiple clients simultaneously. Each runs independently.</a:t>
            </a:r>
            <a:endParaRPr sz="1800" b="0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0F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0"/>
          <p:cNvGrpSpPr/>
          <p:nvPr/>
        </p:nvGrpSpPr>
        <p:grpSpPr>
          <a:xfrm>
            <a:off x="956075" y="5008144"/>
            <a:ext cx="1077344" cy="1089969"/>
            <a:chOff x="0" y="-9525"/>
            <a:chExt cx="812800" cy="822325"/>
          </a:xfrm>
        </p:grpSpPr>
        <p:sp>
          <p:nvSpPr>
            <p:cNvPr id="290" name="Google Shape;290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0"/>
          <p:cNvGrpSpPr/>
          <p:nvPr/>
        </p:nvGrpSpPr>
        <p:grpSpPr>
          <a:xfrm>
            <a:off x="4934676" y="5008144"/>
            <a:ext cx="1077344" cy="1089969"/>
            <a:chOff x="0" y="-9525"/>
            <a:chExt cx="812800" cy="822325"/>
          </a:xfrm>
        </p:grpSpPr>
        <p:sp>
          <p:nvSpPr>
            <p:cNvPr id="293" name="Google Shape;293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0"/>
          <p:cNvSpPr/>
          <p:nvPr/>
        </p:nvSpPr>
        <p:spPr>
          <a:xfrm>
            <a:off x="1266689" y="5255363"/>
            <a:ext cx="456117" cy="608156"/>
          </a:xfrm>
          <a:custGeom>
            <a:avLst/>
            <a:gdLst/>
            <a:ahLst/>
            <a:cxnLst/>
            <a:rect l="l" t="t" r="r" b="b"/>
            <a:pathLst>
              <a:path w="456117" h="608156" extrusionOk="0">
                <a:moveTo>
                  <a:pt x="0" y="0"/>
                </a:moveTo>
                <a:lnTo>
                  <a:pt x="456116" y="0"/>
                </a:lnTo>
                <a:lnTo>
                  <a:pt x="456116" y="608156"/>
                </a:lnTo>
                <a:lnTo>
                  <a:pt x="0" y="608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6" name="Google Shape;296;p10"/>
          <p:cNvSpPr/>
          <p:nvPr/>
        </p:nvSpPr>
        <p:spPr>
          <a:xfrm>
            <a:off x="5245289" y="5255363"/>
            <a:ext cx="456117" cy="608156"/>
          </a:xfrm>
          <a:custGeom>
            <a:avLst/>
            <a:gdLst/>
            <a:ahLst/>
            <a:cxnLst/>
            <a:rect l="l" t="t" r="r" b="b"/>
            <a:pathLst>
              <a:path w="456117" h="608156" extrusionOk="0">
                <a:moveTo>
                  <a:pt x="0" y="0"/>
                </a:moveTo>
                <a:lnTo>
                  <a:pt x="456117" y="0"/>
                </a:lnTo>
                <a:lnTo>
                  <a:pt x="456117" y="608156"/>
                </a:lnTo>
                <a:lnTo>
                  <a:pt x="0" y="608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297" name="Google Shape;297;p10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8;p10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" name="Google Shape;299;p10"/>
          <p:cNvSpPr/>
          <p:nvPr/>
        </p:nvSpPr>
        <p:spPr>
          <a:xfrm>
            <a:off x="9144000" y="4006644"/>
            <a:ext cx="8755217" cy="5681163"/>
          </a:xfrm>
          <a:custGeom>
            <a:avLst/>
            <a:gdLst/>
            <a:ahLst/>
            <a:cxnLst/>
            <a:rect l="l" t="t" r="r" b="b"/>
            <a:pathLst>
              <a:path w="8755217" h="5681163" extrusionOk="0">
                <a:moveTo>
                  <a:pt x="0" y="0"/>
                </a:moveTo>
                <a:lnTo>
                  <a:pt x="8755217" y="0"/>
                </a:lnTo>
                <a:lnTo>
                  <a:pt x="8755217" y="5681163"/>
                </a:lnTo>
                <a:lnTo>
                  <a:pt x="0" y="5681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Google Shape;300;p10"/>
          <p:cNvSpPr txBox="1"/>
          <p:nvPr/>
        </p:nvSpPr>
        <p:spPr>
          <a:xfrm>
            <a:off x="956075" y="2179131"/>
            <a:ext cx="6319798" cy="175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Impact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vs After.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956075" y="8363911"/>
            <a:ext cx="3401905" cy="6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 time: 2–4 weeks → under 10 minutes.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4934676" y="8363911"/>
            <a:ext cx="3553001" cy="97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Schema error rate: ~15% → under 3%, simulation-validated.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10056501" y="1421528"/>
            <a:ext cx="4355239" cy="3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 across key metrics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956075" y="6479113"/>
            <a:ext cx="3401905" cy="940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4934676" y="6479113"/>
            <a:ext cx="3401905" cy="175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endParaRPr sz="5797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956075" y="7592977"/>
            <a:ext cx="340190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 Saved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4934676" y="7592977"/>
            <a:ext cx="340190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Fewer Errors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10056501" y="1949244"/>
            <a:ext cx="435523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+95% faster · 80% fewer errors · 98% audit time saved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6635628" y="797895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4E5E7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Google Shape;280;p4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81;p4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2" name="Google Shape;282;p4"/>
          <p:cNvSpPr txBox="1"/>
          <p:nvPr/>
        </p:nvSpPr>
        <p:spPr>
          <a:xfrm>
            <a:off x="215639" y="1333388"/>
            <a:ext cx="13393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The Difference</a:t>
            </a:r>
            <a:r>
              <a:rPr lang="en-US" sz="5797" b="1" dirty="0">
                <a:solidFill>
                  <a:srgbClr val="0B0E2B"/>
                </a:solidFill>
              </a:rPr>
              <a:t> is clear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9469F4-65E6-DD4F-F4B2-6B54A3912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90" y="2300453"/>
            <a:ext cx="9103253" cy="74746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e01b4d51b5_0_1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6661407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g3e01b4d51b5_0_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7823493" cy="9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e01b4d51b5_0_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6163" y="152400"/>
            <a:ext cx="14835666" cy="998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11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11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" name="Google Shape;409;p11"/>
          <p:cNvSpPr txBox="1"/>
          <p:nvPr/>
        </p:nvSpPr>
        <p:spPr>
          <a:xfrm>
            <a:off x="460759" y="957717"/>
            <a:ext cx="7109496" cy="175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endParaRPr sz="5797" b="1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709FC-EFEB-97CE-B3DA-633E38E9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050" y="1834137"/>
            <a:ext cx="10284096" cy="84528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5" name="Google Shape;415;p12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6" name="Google Shape;416;p12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7" name="Google Shape;417;p12"/>
          <p:cNvSpPr txBox="1"/>
          <p:nvPr/>
        </p:nvSpPr>
        <p:spPr>
          <a:xfrm>
            <a:off x="956075" y="2179131"/>
            <a:ext cx="10991462" cy="3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Prototype &amp;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r>
              <a:rPr lang="en-US" sz="5797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Future Plans.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endParaRPr sz="5797" b="1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97"/>
              <a:buFont typeface="Arial"/>
              <a:buNone/>
            </a:pPr>
            <a:endParaRPr sz="5797" b="1" i="0" u="none" strike="noStrike" cap="none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542958" y="4169522"/>
            <a:ext cx="14211900" cy="5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092" marR="0" lvl="1" indent="-231546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144"/>
              <a:buFont typeface="Arial"/>
              <a:buChar char="•"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Fine-tuned AI model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 specialized model trained on enterprise BRDs for faster, cheaper, and more accurate results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092" marR="0" lvl="1" indent="-231546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144"/>
              <a:buFont typeface="Arial"/>
              <a:buChar char="•"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Expanded adapter library (500+)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Grow from 12 to 500+ adapters to cover all major enterprise integration categories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092" marR="0" lvl="1" indent="-231546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144"/>
              <a:buFont typeface="Arial"/>
              <a:buChar char="•"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Real sandbox API testing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Replace mock testing with real API environments for production-level validation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092" marR="0" lvl="1" indent="-231546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144"/>
              <a:buFont typeface="Arial"/>
              <a:buChar char="•"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Learning from corrections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The system improves over time by learning from human feedback and reducing future errors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092" marR="0" lvl="1" indent="-231546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144"/>
              <a:buFont typeface="Arial"/>
              <a:buChar char="•"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Database migration and OAuth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 Move to production-ready infrastructure OAuth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3092" marR="0" lvl="1" indent="-231546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B0E2B"/>
              </a:buClr>
              <a:buSzPts val="2144"/>
              <a:buFont typeface="Arial"/>
              <a:buChar char="•"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Public adapter marketplace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r>
              <a:rPr lang="en-US" sz="2144" b="0" i="0" u="none" strike="noStrike" cap="none" dirty="0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Launch a platform where developers can add and share custom adapters and integrations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360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4"/>
              <a:buFont typeface="Arial"/>
              <a:buNone/>
            </a:pPr>
            <a:endParaRPr sz="2144" b="0" i="0" u="none" strike="noStrike" cap="none" dirty="0">
              <a:solidFill>
                <a:srgbClr val="0B0E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4" name="Google Shape;424;p13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13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7" name="Google Shape;427;p13"/>
          <p:cNvSpPr txBox="1"/>
          <p:nvPr/>
        </p:nvSpPr>
        <p:spPr>
          <a:xfrm>
            <a:off x="4080825" y="1518281"/>
            <a:ext cx="10854300" cy="19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9"/>
              <a:buFont typeface="Arial"/>
              <a:buNone/>
            </a:pPr>
            <a:r>
              <a:rPr lang="en-US" sz="12599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See It Live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3" title="Screenshot 2026-05-13 at 3.56.1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200" y="3647963"/>
            <a:ext cx="508635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3"/>
          <p:cNvSpPr txBox="1"/>
          <p:nvPr/>
        </p:nvSpPr>
        <p:spPr>
          <a:xfrm>
            <a:off x="1516625" y="8943875"/>
            <a:ext cx="3667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Arial"/>
              <a:buNone/>
            </a:pPr>
            <a:r>
              <a:rPr lang="en-US" sz="3199" b="1" u="sng">
                <a:solidFill>
                  <a:srgbClr val="2E90F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 URL</a:t>
            </a:r>
            <a:endParaRPr sz="3200">
              <a:solidFill>
                <a:srgbClr val="2E90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13" title="Screenshot 2026-05-13 at 3.59.1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51466" y="3683717"/>
            <a:ext cx="5166349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 txBox="1"/>
          <p:nvPr/>
        </p:nvSpPr>
        <p:spPr>
          <a:xfrm>
            <a:off x="13300041" y="9017717"/>
            <a:ext cx="2633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99"/>
              <a:buFont typeface="Arial"/>
              <a:buNone/>
            </a:pPr>
            <a:r>
              <a:rPr lang="en-US" sz="3199" b="1" u="sng">
                <a:solidFill>
                  <a:srgbClr val="2E90F7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link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Google Shape;437;p14"/>
          <p:cNvCxnSpPr/>
          <p:nvPr/>
        </p:nvCxnSpPr>
        <p:spPr>
          <a:xfrm rot="10800000">
            <a:off x="17827240" y="-1017418"/>
            <a:ext cx="0" cy="11846186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14"/>
          <p:cNvCxnSpPr/>
          <p:nvPr/>
        </p:nvCxnSpPr>
        <p:spPr>
          <a:xfrm>
            <a:off x="-555518" y="566373"/>
            <a:ext cx="19338895" cy="0"/>
          </a:xfrm>
          <a:prstGeom prst="straightConnector1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9" name="Google Shape;439;p14"/>
          <p:cNvSpPr txBox="1"/>
          <p:nvPr/>
        </p:nvSpPr>
        <p:spPr>
          <a:xfrm>
            <a:off x="1408150" y="3039493"/>
            <a:ext cx="10854300" cy="19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99"/>
              <a:buFont typeface="Arial"/>
              <a:buNone/>
            </a:pPr>
            <a:r>
              <a:rPr lang="en-US" sz="12599" b="0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4"/>
          <p:cNvSpPr txBox="1"/>
          <p:nvPr/>
        </p:nvSpPr>
        <p:spPr>
          <a:xfrm>
            <a:off x="6242254" y="871173"/>
            <a:ext cx="11081433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B0E2B"/>
                </a:solidFill>
                <a:latin typeface="Arial"/>
                <a:ea typeface="Arial"/>
                <a:cs typeface="Arial"/>
                <a:sym typeface="Arial"/>
              </a:rPr>
              <a:t>AI Integration Orchestration Engine · FinSpark PS2 · Nucleus Software Hackathon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8436275" y="9212025"/>
            <a:ext cx="12971100" cy="1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Looking Forward to the results :)</a:t>
            </a:r>
            <a:endParaRPr sz="32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1603</TotalTime>
  <Words>1037</Words>
  <Application>Microsoft Office PowerPoint</Application>
  <PresentationFormat>Custom</PresentationFormat>
  <Paragraphs>126</Paragraphs>
  <Slides>25</Slides>
  <Notes>23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Comfortaa</vt:lpstr>
      <vt:lpstr>Arial</vt:lpstr>
      <vt:lpstr>Courier New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Tanish Dhankhar</dc:creator>
  <cp:lastModifiedBy>Tanish Dhankhar</cp:lastModifiedBy>
  <cp:revision>9</cp:revision>
  <dcterms:created xsi:type="dcterms:W3CDTF">2006-08-16T00:00:00Z</dcterms:created>
  <dcterms:modified xsi:type="dcterms:W3CDTF">2026-05-18T16:43:29Z</dcterms:modified>
</cp:coreProperties>
</file>